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622" autoAdjust="0"/>
  </p:normalViewPr>
  <p:slideViewPr>
    <p:cSldViewPr snapToGrid="0">
      <p:cViewPr varScale="1">
        <p:scale>
          <a:sx n="108" d="100"/>
          <a:sy n="108" d="100"/>
        </p:scale>
        <p:origin x="120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7759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03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631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6802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249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067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0015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563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5815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361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9946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8819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3333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5763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5050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6036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889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94D6E-C203-49EE-B6E5-5336BD3DFEA5}" type="datetimeFigureOut">
              <a:rPr lang="tr-TR" smtClean="0"/>
              <a:t>11.12.2025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F250D-5DC3-409F-88F7-655BF1A8FE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268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ACF743-1C1A-76FB-B8A3-59BBBEDDE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010" y="728871"/>
            <a:ext cx="9705976" cy="1793806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/>
              <a:t>Pekiştirmeli Öğrenme ile Diyabetik Hastalarda Dinamik İnsülin Doz Kontrolü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BEE3D34-AC59-9D4D-E0AA-412B0032A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1" y="3336994"/>
            <a:ext cx="8791575" cy="1655762"/>
          </a:xfrm>
        </p:spPr>
        <p:txBody>
          <a:bodyPr/>
          <a:lstStyle/>
          <a:p>
            <a:pPr algn="ctr"/>
            <a:r>
              <a:rPr lang="tr-TR" dirty="0"/>
              <a:t>ISE 427 Tıpta Yapay Zeka Dönem Projesi</a:t>
            </a:r>
          </a:p>
          <a:p>
            <a:pPr algn="ctr"/>
            <a:r>
              <a:rPr lang="tr-TR" dirty="0"/>
              <a:t>Yiğit Kalaycıoğlu</a:t>
            </a:r>
          </a:p>
        </p:txBody>
      </p:sp>
    </p:spTree>
    <p:extLst>
      <p:ext uri="{BB962C8B-B14F-4D97-AF65-F5344CB8AC3E}">
        <p14:creationId xmlns:p14="http://schemas.microsoft.com/office/powerpoint/2010/main" val="2342658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>
            <a:extLst>
              <a:ext uri="{FF2B5EF4-FFF2-40B4-BE49-F238E27FC236}">
                <a16:creationId xmlns:a16="http://schemas.microsoft.com/office/drawing/2014/main" id="{3BBE9151-3D77-5686-5989-D0F5ED92BDB9}"/>
              </a:ext>
            </a:extLst>
          </p:cNvPr>
          <p:cNvSpPr txBox="1"/>
          <p:nvPr/>
        </p:nvSpPr>
        <p:spPr>
          <a:xfrm>
            <a:off x="924337" y="514893"/>
            <a:ext cx="1045265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ve Amaç</a:t>
            </a:r>
          </a:p>
          <a:p>
            <a:endParaRPr lang="tr-T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Diyabet yönetiminde yanlış insülin dozu hayati risk taşır (Hipoglisemi/Koma riski).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 hastanın metabolik tepkisi farklıdır (Yaş, BMI, HbA1c), bu da manuel dozajı zorlaştırır.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Gerçek hastalar üzerinde "deneme-yanılma" yapılamaz (Etik kısıtlar). </a:t>
            </a: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Amaç: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Geçmiş klinik verilerden öğrenen bir Yapay Zeka ajanı geliştirmek.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Hastayı güvenli aralıkta (80-140 mg/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tutacak dinamik bir tedavi protokolü oluşturmak. </a:t>
            </a:r>
          </a:p>
        </p:txBody>
      </p:sp>
    </p:spTree>
    <p:extLst>
      <p:ext uri="{BB962C8B-B14F-4D97-AF65-F5344CB8AC3E}">
        <p14:creationId xmlns:p14="http://schemas.microsoft.com/office/powerpoint/2010/main" val="2305126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3DCAC1E5-3D38-5960-9B0F-7B2C71A09E9B}"/>
              </a:ext>
            </a:extLst>
          </p:cNvPr>
          <p:cNvSpPr txBox="1"/>
          <p:nvPr/>
        </p:nvSpPr>
        <p:spPr>
          <a:xfrm>
            <a:off x="907773" y="536713"/>
            <a:ext cx="1037645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Yöntem ve Materyal</a:t>
            </a: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 Seti: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Kaggle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Diabetes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(100.000 Hasta Verisi).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Simülasyon Ortamı (Environment):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OpenAI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Gym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tabanlı, özelleştirilmiş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DiabetesEnv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sınıfı.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Ajan (Agent):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Algoritma: REINFORCE (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Sinir Ağı: 3 Katmanlı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Network (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Eylemler (Action Space):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0: Doz Azalt | 1: Doz Koru | 2: Doz Artır.</a:t>
            </a:r>
          </a:p>
        </p:txBody>
      </p:sp>
    </p:spTree>
    <p:extLst>
      <p:ext uri="{BB962C8B-B14F-4D97-AF65-F5344CB8AC3E}">
        <p14:creationId xmlns:p14="http://schemas.microsoft.com/office/powerpoint/2010/main" val="3762423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EEB4F15-FCC6-5C4E-46D3-B25CCDEAEC88}"/>
              </a:ext>
            </a:extLst>
          </p:cNvPr>
          <p:cNvSpPr txBox="1"/>
          <p:nvPr/>
        </p:nvSpPr>
        <p:spPr>
          <a:xfrm>
            <a:off x="960783" y="556591"/>
            <a:ext cx="1038970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Projenin Farkı: Veri Güdümlü Simülatör </a:t>
            </a:r>
          </a:p>
          <a:p>
            <a:endParaRPr lang="tr-TR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Yenilikçi Yaklaşım: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Simülasyon ortamında hasta tepkileri makine öğrenmesi (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modeliyle üretilmiştir.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Geçiş Modeli (Dynamics Model):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Regressor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Görevi: Veri setindeki hasta profillerini analiz ederek, verilen insülin dozuna karşılık kan şekerinin ne kadar düşeceğini tahmin eder.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Sonuç: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Biyolojik olarak gerçekçi ve kişiselleştirilmiş bir eğitim ortamı sağlanmıştır.</a:t>
            </a:r>
          </a:p>
        </p:txBody>
      </p:sp>
    </p:spTree>
    <p:extLst>
      <p:ext uri="{BB962C8B-B14F-4D97-AF65-F5344CB8AC3E}">
        <p14:creationId xmlns:p14="http://schemas.microsoft.com/office/powerpoint/2010/main" val="373487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7F4329A-613C-7369-071E-0AE4881C6262}"/>
              </a:ext>
            </a:extLst>
          </p:cNvPr>
          <p:cNvSpPr txBox="1"/>
          <p:nvPr/>
        </p:nvSpPr>
        <p:spPr>
          <a:xfrm>
            <a:off x="884583" y="588428"/>
            <a:ext cx="10485782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Eğitim Sonuçları</a:t>
            </a:r>
          </a:p>
          <a:p>
            <a:endParaRPr lang="tr-T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0-2500 Epizot (Keşif):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Ajan ortamı tanıyor, hatalı dozlar nedeniyle negatif ödül alıyor.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2500. Epizot (Kırılma Noktası):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Ajan doğru stratejiyi çözüyor ve ödül pozitife dönüyor.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3000-10000 Epizot (Ustalık):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Ajan stabil bir şekilde yüksek ödül (Ortalama +250 puan) topluyor.</a:t>
            </a:r>
          </a:p>
        </p:txBody>
      </p:sp>
      <p:pic>
        <p:nvPicPr>
          <p:cNvPr id="5" name="Resim 4" descr="metin, diyagram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E2F38B6-E629-6FAE-A212-552C85321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83" y="1146989"/>
            <a:ext cx="7934739" cy="396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5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0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2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4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5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6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7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8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9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0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2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3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4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5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6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7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8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9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50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51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52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53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2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3CBA50DB-DBC7-4B6E-B3C1-8FF1EA519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DED8FB6-AF8D-4D98-913D-E6486FEC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A805ED2-113B-4584-8827-567B5792F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0" name="Rectangle 5">
                <a:extLst>
                  <a:ext uri="{FF2B5EF4-FFF2-40B4-BE49-F238E27FC236}">
                    <a16:creationId xmlns:a16="http://schemas.microsoft.com/office/drawing/2014/main" id="{C6CF21D8-CC72-4F35-A29E-3AF9E6DA1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1" name="Freeform 6">
                <a:extLst>
                  <a:ext uri="{FF2B5EF4-FFF2-40B4-BE49-F238E27FC236}">
                    <a16:creationId xmlns:a16="http://schemas.microsoft.com/office/drawing/2014/main" id="{8E60A7C3-087D-47B4-AB5A-C8B1042FD2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2" name="Freeform 7">
                <a:extLst>
                  <a:ext uri="{FF2B5EF4-FFF2-40B4-BE49-F238E27FC236}">
                    <a16:creationId xmlns:a16="http://schemas.microsoft.com/office/drawing/2014/main" id="{1885EECE-F6D9-4128-BC90-01583BF269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3" name="Freeform 8">
                <a:extLst>
                  <a:ext uri="{FF2B5EF4-FFF2-40B4-BE49-F238E27FC236}">
                    <a16:creationId xmlns:a16="http://schemas.microsoft.com/office/drawing/2014/main" id="{F44AA128-AA96-4FF2-A1C3-F9D2E7FD3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4" name="Freeform 9">
                <a:extLst>
                  <a:ext uri="{FF2B5EF4-FFF2-40B4-BE49-F238E27FC236}">
                    <a16:creationId xmlns:a16="http://schemas.microsoft.com/office/drawing/2014/main" id="{7E52DC12-230B-4892-B284-F2FE9DE16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5" name="Freeform 10">
                <a:extLst>
                  <a:ext uri="{FF2B5EF4-FFF2-40B4-BE49-F238E27FC236}">
                    <a16:creationId xmlns:a16="http://schemas.microsoft.com/office/drawing/2014/main" id="{A68FBF9E-B81A-41D0-8A03-6CFC30811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6" name="Freeform 11">
                <a:extLst>
                  <a:ext uri="{FF2B5EF4-FFF2-40B4-BE49-F238E27FC236}">
                    <a16:creationId xmlns:a16="http://schemas.microsoft.com/office/drawing/2014/main" id="{B0047F84-8480-494F-9241-39FF17CFF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7" name="Freeform 12">
                <a:extLst>
                  <a:ext uri="{FF2B5EF4-FFF2-40B4-BE49-F238E27FC236}">
                    <a16:creationId xmlns:a16="http://schemas.microsoft.com/office/drawing/2014/main" id="{8CAF76D8-4B95-4A8E-9EE5-8CCC0A7AD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8" name="Freeform 13">
                <a:extLst>
                  <a:ext uri="{FF2B5EF4-FFF2-40B4-BE49-F238E27FC236}">
                    <a16:creationId xmlns:a16="http://schemas.microsoft.com/office/drawing/2014/main" id="{792F82F3-05A8-4A55-8C5B-81F6678B59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9" name="Freeform 14">
                <a:extLst>
                  <a:ext uri="{FF2B5EF4-FFF2-40B4-BE49-F238E27FC236}">
                    <a16:creationId xmlns:a16="http://schemas.microsoft.com/office/drawing/2014/main" id="{B8472536-021A-4E59-BD59-DDC090A18A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0" name="Freeform 15">
                <a:extLst>
                  <a:ext uri="{FF2B5EF4-FFF2-40B4-BE49-F238E27FC236}">
                    <a16:creationId xmlns:a16="http://schemas.microsoft.com/office/drawing/2014/main" id="{AEBEF646-3C12-469F-B194-A161A7A95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1" name="Line 16">
                <a:extLst>
                  <a:ext uri="{FF2B5EF4-FFF2-40B4-BE49-F238E27FC236}">
                    <a16:creationId xmlns:a16="http://schemas.microsoft.com/office/drawing/2014/main" id="{D4501159-D7AC-4307-9DFC-C8F3A9434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2" name="Freeform 17">
                <a:extLst>
                  <a:ext uri="{FF2B5EF4-FFF2-40B4-BE49-F238E27FC236}">
                    <a16:creationId xmlns:a16="http://schemas.microsoft.com/office/drawing/2014/main" id="{B5244C41-454C-47D8-A6A9-C17EC2A366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3" name="Freeform 18">
                <a:extLst>
                  <a:ext uri="{FF2B5EF4-FFF2-40B4-BE49-F238E27FC236}">
                    <a16:creationId xmlns:a16="http://schemas.microsoft.com/office/drawing/2014/main" id="{8FA883B8-99FB-4540-B573-F0674BFB1C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4" name="Freeform 19">
                <a:extLst>
                  <a:ext uri="{FF2B5EF4-FFF2-40B4-BE49-F238E27FC236}">
                    <a16:creationId xmlns:a16="http://schemas.microsoft.com/office/drawing/2014/main" id="{F1178B7C-5A00-4E5B-9010-B1477621E0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5" name="Freeform 20">
                <a:extLst>
                  <a:ext uri="{FF2B5EF4-FFF2-40B4-BE49-F238E27FC236}">
                    <a16:creationId xmlns:a16="http://schemas.microsoft.com/office/drawing/2014/main" id="{E359D5D8-EE2E-4714-A40A-C3A6D91F98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6" name="Rectangle 21">
                <a:extLst>
                  <a:ext uri="{FF2B5EF4-FFF2-40B4-BE49-F238E27FC236}">
                    <a16:creationId xmlns:a16="http://schemas.microsoft.com/office/drawing/2014/main" id="{8A89C2E5-F892-4666-85FB-995578FBC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7" name="Freeform 22">
                <a:extLst>
                  <a:ext uri="{FF2B5EF4-FFF2-40B4-BE49-F238E27FC236}">
                    <a16:creationId xmlns:a16="http://schemas.microsoft.com/office/drawing/2014/main" id="{6DC6174B-0EC3-4A81-A0D1-D10DBB869A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8" name="Freeform 23">
                <a:extLst>
                  <a:ext uri="{FF2B5EF4-FFF2-40B4-BE49-F238E27FC236}">
                    <a16:creationId xmlns:a16="http://schemas.microsoft.com/office/drawing/2014/main" id="{2CB96070-0553-4F79-984C-8DABB1CD5D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89" name="Freeform 24">
                <a:extLst>
                  <a:ext uri="{FF2B5EF4-FFF2-40B4-BE49-F238E27FC236}">
                    <a16:creationId xmlns:a16="http://schemas.microsoft.com/office/drawing/2014/main" id="{BA23B6E2-3718-4009-B80E-9279154B1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90" name="Freeform 25">
                <a:extLst>
                  <a:ext uri="{FF2B5EF4-FFF2-40B4-BE49-F238E27FC236}">
                    <a16:creationId xmlns:a16="http://schemas.microsoft.com/office/drawing/2014/main" id="{CAFB32D5-E528-419B-80EE-147563397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91" name="Freeform 26">
                <a:extLst>
                  <a:ext uri="{FF2B5EF4-FFF2-40B4-BE49-F238E27FC236}">
                    <a16:creationId xmlns:a16="http://schemas.microsoft.com/office/drawing/2014/main" id="{A68ADD35-4FEA-404D-B2F3-23556E6E8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92" name="Freeform 27">
                <a:extLst>
                  <a:ext uri="{FF2B5EF4-FFF2-40B4-BE49-F238E27FC236}">
                    <a16:creationId xmlns:a16="http://schemas.microsoft.com/office/drawing/2014/main" id="{89CF17CA-49E3-4B4A-836A-4FD55C67BE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93" name="Freeform 28">
                <a:extLst>
                  <a:ext uri="{FF2B5EF4-FFF2-40B4-BE49-F238E27FC236}">
                    <a16:creationId xmlns:a16="http://schemas.microsoft.com/office/drawing/2014/main" id="{AB394F2E-F3E7-4CED-84A9-35C47AB287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94" name="Freeform 29">
                <a:extLst>
                  <a:ext uri="{FF2B5EF4-FFF2-40B4-BE49-F238E27FC236}">
                    <a16:creationId xmlns:a16="http://schemas.microsoft.com/office/drawing/2014/main" id="{FF816C2F-3999-4A9F-8395-5D68ED33A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95" name="Freeform 30">
                <a:extLst>
                  <a:ext uri="{FF2B5EF4-FFF2-40B4-BE49-F238E27FC236}">
                    <a16:creationId xmlns:a16="http://schemas.microsoft.com/office/drawing/2014/main" id="{82AD6AC6-71D5-4BD8-9185-D3062968B5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96" name="Freeform 31">
                <a:extLst>
                  <a:ext uri="{FF2B5EF4-FFF2-40B4-BE49-F238E27FC236}">
                    <a16:creationId xmlns:a16="http://schemas.microsoft.com/office/drawing/2014/main" id="{743A50C2-65CF-4F4C-B412-6149A93AC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C0E7A88-FEDF-4C4F-A6B4-F7DDE9DE9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0" name="Freeform 32">
                <a:extLst>
                  <a:ext uri="{FF2B5EF4-FFF2-40B4-BE49-F238E27FC236}">
                    <a16:creationId xmlns:a16="http://schemas.microsoft.com/office/drawing/2014/main" id="{AE94B3EE-D5C0-4BDE-B6AA-7599F0486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61" name="Freeform 33">
                <a:extLst>
                  <a:ext uri="{FF2B5EF4-FFF2-40B4-BE49-F238E27FC236}">
                    <a16:creationId xmlns:a16="http://schemas.microsoft.com/office/drawing/2014/main" id="{5EF110E8-C00D-454E-8F3A-ECF2D35667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62" name="Freeform 34">
                <a:extLst>
                  <a:ext uri="{FF2B5EF4-FFF2-40B4-BE49-F238E27FC236}">
                    <a16:creationId xmlns:a16="http://schemas.microsoft.com/office/drawing/2014/main" id="{BFC5F327-6927-4F35-9AF6-C45527BB4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63" name="Freeform 35">
                <a:extLst>
                  <a:ext uri="{FF2B5EF4-FFF2-40B4-BE49-F238E27FC236}">
                    <a16:creationId xmlns:a16="http://schemas.microsoft.com/office/drawing/2014/main" id="{BF2D314D-AEDE-418D-9702-D3CDB98C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64" name="Freeform 36">
                <a:extLst>
                  <a:ext uri="{FF2B5EF4-FFF2-40B4-BE49-F238E27FC236}">
                    <a16:creationId xmlns:a16="http://schemas.microsoft.com/office/drawing/2014/main" id="{64FD07F8-3CA6-4209-9A9E-30609FE9A3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65" name="Freeform 37">
                <a:extLst>
                  <a:ext uri="{FF2B5EF4-FFF2-40B4-BE49-F238E27FC236}">
                    <a16:creationId xmlns:a16="http://schemas.microsoft.com/office/drawing/2014/main" id="{AB0AE24D-CD49-4B57-82E0-780F62AE4F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66" name="Freeform 38">
                <a:extLst>
                  <a:ext uri="{FF2B5EF4-FFF2-40B4-BE49-F238E27FC236}">
                    <a16:creationId xmlns:a16="http://schemas.microsoft.com/office/drawing/2014/main" id="{66803AF8-6368-45E6-A0B7-C0C4CFFEE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67" name="Freeform 39">
                <a:extLst>
                  <a:ext uri="{FF2B5EF4-FFF2-40B4-BE49-F238E27FC236}">
                    <a16:creationId xmlns:a16="http://schemas.microsoft.com/office/drawing/2014/main" id="{B4761E05-2792-472B-A814-9616151CF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68" name="Freeform 40">
                <a:extLst>
                  <a:ext uri="{FF2B5EF4-FFF2-40B4-BE49-F238E27FC236}">
                    <a16:creationId xmlns:a16="http://schemas.microsoft.com/office/drawing/2014/main" id="{40B6A261-9427-4E70-9564-048AD009BD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69" name="Rectangle 41">
                <a:extLst>
                  <a:ext uri="{FF2B5EF4-FFF2-40B4-BE49-F238E27FC236}">
                    <a16:creationId xmlns:a16="http://schemas.microsoft.com/office/drawing/2014/main" id="{68BFDFBE-2286-4123-9436-E1DF84AF4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</p:grpSp>
      <p:pic>
        <p:nvPicPr>
          <p:cNvPr id="98" name="Picture 2">
            <a:extLst>
              <a:ext uri="{FF2B5EF4-FFF2-40B4-BE49-F238E27FC236}">
                <a16:creationId xmlns:a16="http://schemas.microsoft.com/office/drawing/2014/main" id="{5B3DE270-418F-47A7-B311-C4D876041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0" name="Round Diagonal Corner Rectangle 11">
            <a:extLst>
              <a:ext uri="{FF2B5EF4-FFF2-40B4-BE49-F238E27FC236}">
                <a16:creationId xmlns:a16="http://schemas.microsoft.com/office/drawing/2014/main" id="{A1351C6B-7343-451F-AB4A-1CE294A4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Resim 6" descr="metin, çizgi, öykü gelişim çizgisi; kumpas; grafiğini çıkarma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A2E13C2-7954-7423-DBCB-4D5F95BD0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49" y="1578134"/>
            <a:ext cx="6752461" cy="3376231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EB8CA68F-9915-0F85-FAC6-A147C7A1D4D0}"/>
              </a:ext>
            </a:extLst>
          </p:cNvPr>
          <p:cNvSpPr txBox="1"/>
          <p:nvPr/>
        </p:nvSpPr>
        <p:spPr>
          <a:xfrm>
            <a:off x="8112047" y="938138"/>
            <a:ext cx="3281004" cy="500191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/>
          <a:p>
            <a:pPr defTabSz="914400">
              <a:lnSpc>
                <a:spcPct val="110000"/>
              </a:lnSpc>
              <a:spcAft>
                <a:spcPts val="600"/>
              </a:spcAft>
              <a:buSzPct val="125000"/>
            </a:pPr>
            <a:r>
              <a:rPr lang="en-US" sz="7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Testi </a:t>
            </a:r>
            <a:r>
              <a:rPr lang="en-US" sz="70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7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Klinik </a:t>
            </a:r>
            <a:r>
              <a:rPr lang="en-US" sz="70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Değerlendirme</a:t>
            </a:r>
            <a:endParaRPr lang="en-US" sz="7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110000"/>
              </a:lnSpc>
              <a:spcAft>
                <a:spcPts val="600"/>
              </a:spcAft>
              <a:buSzPct val="125000"/>
            </a:pPr>
            <a:endParaRPr lang="en-US" sz="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110000"/>
              </a:lnSpc>
              <a:spcAft>
                <a:spcPts val="600"/>
              </a:spcAft>
              <a:buSzPct val="125000"/>
            </a:pPr>
            <a:r>
              <a:rPr lang="en-US" sz="3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Senaryo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Başlangıç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127.78 mg/dL (Yüksek).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Müdahale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İlk 2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adımda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Doz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Artır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-&gt; Hedefe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Ulaşma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110000"/>
              </a:lnSpc>
              <a:spcAft>
                <a:spcPts val="600"/>
              </a:spcAft>
              <a:buSzPct val="125000"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Klinik </a:t>
            </a:r>
            <a:r>
              <a:rPr lang="en-US" sz="3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Yorum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İdame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Tedavisi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Ajan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hedef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aralığa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girdikten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sonra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Doz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Koru"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eylemini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seçmiştir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Güvenlik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Hipoglisemi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(&lt;70 mg/dL)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riski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%100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önlenmiştir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Başarı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Aşırı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ilaç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kullanımından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kaçınma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prensibi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uygulanmıştır</a:t>
            </a:r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154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vre">
  <a:themeElements>
    <a:clrScheme name="Devre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Devre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v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TM04033919[[fn=Devre]]</Template>
  <TotalTime>87</TotalTime>
  <Words>359</Words>
  <Application>Microsoft Office PowerPoint</Application>
  <PresentationFormat>Geniş ekran</PresentationFormat>
  <Paragraphs>83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Tw Cen MT</vt:lpstr>
      <vt:lpstr>Devre</vt:lpstr>
      <vt:lpstr>Pekiştirmeli Öğrenme ile Diyabetik Hastalarda Dinamik İnsülin Doz Kontrolü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Yiğit Kalaycıoğlu</dc:creator>
  <cp:lastModifiedBy>Yiğit Kalaycıoğlu</cp:lastModifiedBy>
  <cp:revision>2</cp:revision>
  <dcterms:created xsi:type="dcterms:W3CDTF">2025-12-11T11:49:06Z</dcterms:created>
  <dcterms:modified xsi:type="dcterms:W3CDTF">2025-12-11T13:16:22Z</dcterms:modified>
</cp:coreProperties>
</file>